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9"/>
  </p:notesMasterIdLst>
  <p:handoutMasterIdLst>
    <p:handoutMasterId r:id="rId20"/>
  </p:handoutMasterIdLst>
  <p:sldIdLst>
    <p:sldId id="257" r:id="rId5"/>
    <p:sldId id="274" r:id="rId6"/>
    <p:sldId id="275" r:id="rId7"/>
    <p:sldId id="276" r:id="rId8"/>
    <p:sldId id="277" r:id="rId9"/>
    <p:sldId id="278" r:id="rId10"/>
    <p:sldId id="279" r:id="rId11"/>
    <p:sldId id="280" r:id="rId12"/>
    <p:sldId id="281" r:id="rId13"/>
    <p:sldId id="282" r:id="rId14"/>
    <p:sldId id="285" r:id="rId15"/>
    <p:sldId id="283" r:id="rId16"/>
    <p:sldId id="286" r:id="rId17"/>
    <p:sldId id="284" r:id="rId18"/>
  </p:sldIdLst>
  <p:sldSz cx="12192000"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5"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4404"/>
    <a:srgbClr val="5F6F0F"/>
    <a:srgbClr val="718412"/>
    <a:srgbClr val="65741A"/>
    <a:srgbClr val="70811D"/>
    <a:srgbClr val="7B8D1F"/>
    <a:srgbClr val="839721"/>
    <a:srgbClr val="95AB25"/>
    <a:srgbClr val="BC5500"/>
    <a:srgbClr val="C45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p:cViewPr varScale="1">
        <p:scale>
          <a:sx n="119" d="100"/>
          <a:sy n="119" d="100"/>
        </p:scale>
        <p:origin x="252" y="108"/>
      </p:cViewPr>
      <p:guideLst>
        <p:guide orient="horz" pos="2160"/>
        <p:guide pos="3840"/>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E5B4EDC-59C0-49C7-8ADA-5A781B329E02}" type="datetimeFigureOut">
              <a:rPr lang="en-US"/>
              <a:t>4/13/2017</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429053-DC2A-4342-ADD4-2FD729D91E2C}" type="slidenum">
              <a:rPr/>
              <a:t>‹#›</a:t>
            </a:fld>
            <a:endParaRPr/>
          </a:p>
        </p:txBody>
      </p:sp>
    </p:spTree>
    <p:extLst>
      <p:ext uri="{BB962C8B-B14F-4D97-AF65-F5344CB8AC3E}">
        <p14:creationId xmlns:p14="http://schemas.microsoft.com/office/powerpoint/2010/main" val="42320457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D8D46A-B586-417D-BFBD-8C8FE0AAF762}" type="datetimeFigureOut">
              <a:rPr lang="en-US"/>
              <a:t>4/13/2017</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BA5BD7-F043-4D1B-AA17-CD412FC534DE}" type="slidenum">
              <a:rPr/>
              <a:t>‹#›</a:t>
            </a:fld>
            <a:endParaRPr/>
          </a:p>
        </p:txBody>
      </p:sp>
    </p:spTree>
    <p:extLst>
      <p:ext uri="{BB962C8B-B14F-4D97-AF65-F5344CB8AC3E}">
        <p14:creationId xmlns:p14="http://schemas.microsoft.com/office/powerpoint/2010/main" val="27670578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0DFD029-FB74-4578-B929-F66AA97659CA}" type="datetimeFigureOut">
              <a:rPr lang="en-US" smtClean="0"/>
              <a:t>4/13/2017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14DD1E-5D91-48A3-AD6D-45FBA980D106}" type="slidenum">
              <a:rPr lang="en-US" smtClean="0"/>
              <a:t>‹#›</a:t>
            </a:fld>
            <a:endParaRPr lang="en-US"/>
          </a:p>
        </p:txBody>
      </p:sp>
    </p:spTree>
    <p:extLst>
      <p:ext uri="{BB962C8B-B14F-4D97-AF65-F5344CB8AC3E}">
        <p14:creationId xmlns:p14="http://schemas.microsoft.com/office/powerpoint/2010/main" val="691821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0DFD029-FB74-4578-B929-F66AA97659CA}" type="datetimeFigureOut">
              <a:rPr lang="en-US" smtClean="0"/>
              <a:t>4/13/2017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14DD1E-5D91-48A3-AD6D-45FBA980D106}" type="slidenum">
              <a:rPr lang="en-US" smtClean="0"/>
              <a:t>‹#›</a:t>
            </a:fld>
            <a:endParaRPr lang="en-US"/>
          </a:p>
        </p:txBody>
      </p:sp>
    </p:spTree>
    <p:extLst>
      <p:ext uri="{BB962C8B-B14F-4D97-AF65-F5344CB8AC3E}">
        <p14:creationId xmlns:p14="http://schemas.microsoft.com/office/powerpoint/2010/main" val="195097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0DFD029-FB74-4578-B929-F66AA97659CA}" type="datetimeFigureOut">
              <a:rPr lang="en-US" smtClean="0"/>
              <a:t>4/13/2017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14DD1E-5D91-48A3-AD6D-45FBA980D106}" type="slidenum">
              <a:rPr lang="en-US" smtClean="0"/>
              <a:t>‹#›</a:t>
            </a:fld>
            <a:endParaRPr lang="en-US"/>
          </a:p>
        </p:txBody>
      </p:sp>
    </p:spTree>
    <p:extLst>
      <p:ext uri="{BB962C8B-B14F-4D97-AF65-F5344CB8AC3E}">
        <p14:creationId xmlns:p14="http://schemas.microsoft.com/office/powerpoint/2010/main" val="3386410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0DFD029-FB74-4578-B929-F66AA97659CA}" type="datetimeFigureOut">
              <a:rPr lang="en-US" smtClean="0"/>
              <a:t>4/13/2017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14DD1E-5D91-48A3-AD6D-45FBA980D106}" type="slidenum">
              <a:rPr lang="en-US" smtClean="0"/>
              <a:t>‹#›</a:t>
            </a:fld>
            <a:endParaRPr lang="en-US"/>
          </a:p>
        </p:txBody>
      </p:sp>
    </p:spTree>
    <p:extLst>
      <p:ext uri="{BB962C8B-B14F-4D97-AF65-F5344CB8AC3E}">
        <p14:creationId xmlns:p14="http://schemas.microsoft.com/office/powerpoint/2010/main" val="4035176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0DFD029-FB74-4578-B929-F66AA97659CA}" type="datetimeFigureOut">
              <a:rPr lang="en-US" smtClean="0"/>
              <a:t>4/13/2017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14DD1E-5D91-48A3-AD6D-45FBA980D106}" type="slidenum">
              <a:rPr lang="en-US" smtClean="0"/>
              <a:t>‹#›</a:t>
            </a:fld>
            <a:endParaRPr lang="en-US"/>
          </a:p>
        </p:txBody>
      </p:sp>
    </p:spTree>
    <p:extLst>
      <p:ext uri="{BB962C8B-B14F-4D97-AF65-F5344CB8AC3E}">
        <p14:creationId xmlns:p14="http://schemas.microsoft.com/office/powerpoint/2010/main" val="3676930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0DFD029-FB74-4578-B929-F66AA97659CA}" type="datetimeFigureOut">
              <a:rPr lang="en-US" smtClean="0"/>
              <a:t>4/13/2017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14DD1E-5D91-48A3-AD6D-45FBA980D106}" type="slidenum">
              <a:rPr lang="en-US" smtClean="0"/>
              <a:t>‹#›</a:t>
            </a:fld>
            <a:endParaRPr lang="en-US"/>
          </a:p>
        </p:txBody>
      </p:sp>
    </p:spTree>
    <p:extLst>
      <p:ext uri="{BB962C8B-B14F-4D97-AF65-F5344CB8AC3E}">
        <p14:creationId xmlns:p14="http://schemas.microsoft.com/office/powerpoint/2010/main" val="3722733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DFD029-FB74-4578-B929-F66AA97659CA}" type="datetimeFigureOut">
              <a:rPr lang="en-US" smtClean="0"/>
              <a:t>4/13/2017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014DD1E-5D91-48A3-AD6D-45FBA980D106}" type="slidenum">
              <a:rPr lang="en-US" smtClean="0"/>
              <a:t>‹#›</a:t>
            </a:fld>
            <a:endParaRPr lang="en-US"/>
          </a:p>
        </p:txBody>
      </p:sp>
    </p:spTree>
    <p:extLst>
      <p:ext uri="{BB962C8B-B14F-4D97-AF65-F5344CB8AC3E}">
        <p14:creationId xmlns:p14="http://schemas.microsoft.com/office/powerpoint/2010/main" val="35010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0DFD029-FB74-4578-B929-F66AA97659CA}" type="datetimeFigureOut">
              <a:rPr lang="en-US" smtClean="0"/>
              <a:t>4/13/2017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14DD1E-5D91-48A3-AD6D-45FBA980D106}" type="slidenum">
              <a:rPr lang="en-US" smtClean="0"/>
              <a:t>‹#›</a:t>
            </a:fld>
            <a:endParaRPr lang="en-US"/>
          </a:p>
        </p:txBody>
      </p:sp>
    </p:spTree>
    <p:extLst>
      <p:ext uri="{BB962C8B-B14F-4D97-AF65-F5344CB8AC3E}">
        <p14:creationId xmlns:p14="http://schemas.microsoft.com/office/powerpoint/2010/main" val="2723548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0DFD029-FB74-4578-B929-F66AA97659CA}" type="datetimeFigureOut">
              <a:rPr lang="en-US" smtClean="0"/>
              <a:t>4/13/2017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14DD1E-5D91-48A3-AD6D-45FBA980D106}" type="slidenum">
              <a:rPr lang="en-US" smtClean="0"/>
              <a:t>‹#›</a:t>
            </a:fld>
            <a:endParaRPr lang="en-US"/>
          </a:p>
        </p:txBody>
      </p:sp>
    </p:spTree>
    <p:extLst>
      <p:ext uri="{BB962C8B-B14F-4D97-AF65-F5344CB8AC3E}">
        <p14:creationId xmlns:p14="http://schemas.microsoft.com/office/powerpoint/2010/main" val="1792264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0DFD029-FB74-4578-B929-F66AA97659CA}" type="datetimeFigureOut">
              <a:rPr lang="en-US" smtClean="0"/>
              <a:t>4/13/2017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14DD1E-5D91-48A3-AD6D-45FBA980D106}" type="slidenum">
              <a:rPr lang="en-US" smtClean="0"/>
              <a:t>‹#›</a:t>
            </a:fld>
            <a:endParaRPr lang="en-US"/>
          </a:p>
        </p:txBody>
      </p:sp>
    </p:spTree>
    <p:extLst>
      <p:ext uri="{BB962C8B-B14F-4D97-AF65-F5344CB8AC3E}">
        <p14:creationId xmlns:p14="http://schemas.microsoft.com/office/powerpoint/2010/main" val="718853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0DFD029-FB74-4578-B929-F66AA97659CA}" type="datetimeFigureOut">
              <a:rPr lang="en-US" smtClean="0"/>
              <a:t>4/13/2017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14DD1E-5D91-48A3-AD6D-45FBA980D106}" type="slidenum">
              <a:rPr lang="en-US" smtClean="0"/>
              <a:t>‹#›</a:t>
            </a:fld>
            <a:endParaRPr lang="en-US"/>
          </a:p>
        </p:txBody>
      </p:sp>
    </p:spTree>
    <p:extLst>
      <p:ext uri="{BB962C8B-B14F-4D97-AF65-F5344CB8AC3E}">
        <p14:creationId xmlns:p14="http://schemas.microsoft.com/office/powerpoint/2010/main" val="1984052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0DFD029-FB74-4578-B929-F66AA97659CA}" type="datetimeFigureOut">
              <a:rPr lang="en-US" smtClean="0"/>
              <a:pPr/>
              <a:t>4/13/2017</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14DD1E-5D91-48A3-AD6D-45FBA980D106}" type="slidenum">
              <a:rPr lang="en-US" smtClean="0"/>
              <a:pPr/>
              <a:t>‹#›</a:t>
            </a:fld>
            <a:endParaRPr lang="en-US"/>
          </a:p>
        </p:txBody>
      </p:sp>
    </p:spTree>
    <p:extLst>
      <p:ext uri="{BB962C8B-B14F-4D97-AF65-F5344CB8AC3E}">
        <p14:creationId xmlns:p14="http://schemas.microsoft.com/office/powerpoint/2010/main" val="239267808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2.jpg"/><Relationship Id="rId1" Type="http://schemas.openxmlformats.org/officeDocument/2006/relationships/slideLayout" Target="../slideLayouts/slideLayout2.xml"/><Relationship Id="rId5" Type="http://schemas.openxmlformats.org/officeDocument/2006/relationships/image" Target="../media/image9.JPG"/><Relationship Id="rId4" Type="http://schemas.openxmlformats.org/officeDocument/2006/relationships/image" Target="../media/image8.JPG"/></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14.xml.rels><?xml version="1.0" encoding="UTF-8" standalone="yes"?>
<Relationships xmlns="http://schemas.openxmlformats.org/package/2006/relationships"><Relationship Id="rId3" Type="http://schemas.openxmlformats.org/officeDocument/2006/relationships/hyperlink" Target="mailto:John.Lockie@doubleline.com" TargetMode="External"/><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hyperlink" Target="mailto:admin@fsisac.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0" y="5029200"/>
            <a:ext cx="12192000" cy="690563"/>
          </a:xfrm>
          <a:solidFill>
            <a:schemeClr val="tx1">
              <a:alpha val="50000"/>
            </a:schemeClr>
          </a:solidFill>
        </p:spPr>
        <p:txBody>
          <a:bodyPr>
            <a:noAutofit/>
          </a:bodyPr>
          <a:lstStyle/>
          <a:p>
            <a:r>
              <a:rPr lang="en-US" sz="4400" dirty="0" smtClean="0">
                <a:solidFill>
                  <a:schemeClr val="bg1"/>
                </a:solidFill>
              </a:rPr>
              <a:t>Taking Your Institution to the Next Level</a:t>
            </a:r>
            <a:endParaRPr lang="en-US" sz="4400" dirty="0">
              <a:solidFill>
                <a:schemeClr val="bg1"/>
              </a:solidFill>
            </a:endParaRPr>
          </a:p>
        </p:txBody>
      </p:sp>
      <p:sp>
        <p:nvSpPr>
          <p:cNvPr id="5" name="Subtitle 4"/>
          <p:cNvSpPr>
            <a:spLocks noGrp="1"/>
          </p:cNvSpPr>
          <p:nvPr>
            <p:ph type="subTitle" idx="1"/>
          </p:nvPr>
        </p:nvSpPr>
        <p:spPr>
          <a:xfrm>
            <a:off x="0" y="533400"/>
            <a:ext cx="12192000" cy="533400"/>
          </a:xfrm>
          <a:solidFill>
            <a:schemeClr val="tx1">
              <a:alpha val="50000"/>
            </a:schemeClr>
          </a:solidFill>
        </p:spPr>
        <p:txBody>
          <a:bodyPr>
            <a:normAutofit/>
          </a:bodyPr>
          <a:lstStyle/>
          <a:p>
            <a:r>
              <a:rPr lang="en-US" sz="3200" dirty="0" smtClean="0">
                <a:solidFill>
                  <a:schemeClr val="bg1"/>
                </a:solidFill>
              </a:rPr>
              <a:t>From Consumer to Producer</a:t>
            </a:r>
            <a:endParaRPr lang="en-US" sz="3200" dirty="0">
              <a:solidFill>
                <a:schemeClr val="bg1"/>
              </a:solidFill>
            </a:endParaRPr>
          </a:p>
        </p:txBody>
      </p:sp>
    </p:spTree>
    <p:extLst>
      <p:ext uri="{BB962C8B-B14F-4D97-AF65-F5344CB8AC3E}">
        <p14:creationId xmlns:p14="http://schemas.microsoft.com/office/powerpoint/2010/main" val="1332291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762000"/>
            <a:ext cx="12192000" cy="625474"/>
          </a:xfrm>
          <a:solidFill>
            <a:schemeClr val="bg1">
              <a:alpha val="50000"/>
            </a:schemeClr>
          </a:solidFill>
        </p:spPr>
        <p:txBody>
          <a:bodyPr>
            <a:normAutofit fontScale="90000"/>
          </a:bodyPr>
          <a:lstStyle/>
          <a:p>
            <a:r>
              <a:rPr lang="en-US" dirty="0" smtClean="0"/>
              <a:t>About Me</a:t>
            </a:r>
            <a:endParaRPr lang="en-US" dirty="0"/>
          </a:p>
        </p:txBody>
      </p:sp>
      <p:sp>
        <p:nvSpPr>
          <p:cNvPr id="3" name="Content Placeholder 2"/>
          <p:cNvSpPr>
            <a:spLocks noGrp="1"/>
          </p:cNvSpPr>
          <p:nvPr>
            <p:ph idx="1"/>
          </p:nvPr>
        </p:nvSpPr>
        <p:spPr>
          <a:xfrm>
            <a:off x="838200" y="1825625"/>
            <a:ext cx="10515600" cy="536575"/>
          </a:xfrm>
        </p:spPr>
        <p:txBody>
          <a:bodyPr/>
          <a:lstStyle/>
          <a:p>
            <a:r>
              <a:rPr lang="en-US" dirty="0" smtClean="0"/>
              <a:t>Banking/Finance for 5 Years</a:t>
            </a:r>
          </a:p>
        </p:txBody>
      </p:sp>
      <p:sp>
        <p:nvSpPr>
          <p:cNvPr id="4" name="Content Placeholder 2"/>
          <p:cNvSpPr txBox="1">
            <a:spLocks/>
          </p:cNvSpPr>
          <p:nvPr/>
        </p:nvSpPr>
        <p:spPr>
          <a:xfrm>
            <a:off x="838200" y="2368062"/>
            <a:ext cx="10515600" cy="536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Construction/Consulting Previous 10</a:t>
            </a:r>
          </a:p>
        </p:txBody>
      </p:sp>
      <p:sp>
        <p:nvSpPr>
          <p:cNvPr id="5" name="Content Placeholder 2"/>
          <p:cNvSpPr txBox="1">
            <a:spLocks/>
          </p:cNvSpPr>
          <p:nvPr/>
        </p:nvSpPr>
        <p:spPr>
          <a:xfrm>
            <a:off x="838200" y="2904637"/>
            <a:ext cx="10515600" cy="536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Specialize in Infrastructure</a:t>
            </a:r>
          </a:p>
        </p:txBody>
      </p:sp>
    </p:spTree>
    <p:extLst>
      <p:ext uri="{BB962C8B-B14F-4D97-AF65-F5344CB8AC3E}">
        <p14:creationId xmlns:p14="http://schemas.microsoft.com/office/powerpoint/2010/main" val="1261215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762000"/>
            <a:ext cx="12192000" cy="625474"/>
          </a:xfrm>
          <a:solidFill>
            <a:schemeClr val="bg1">
              <a:alpha val="50000"/>
            </a:schemeClr>
          </a:solidFill>
        </p:spPr>
        <p:txBody>
          <a:bodyPr>
            <a:normAutofit fontScale="90000"/>
          </a:bodyPr>
          <a:lstStyle/>
          <a:p>
            <a:r>
              <a:rPr lang="en-US" dirty="0" smtClean="0"/>
              <a:t>Level 1: Consumers</a:t>
            </a:r>
            <a:endParaRPr lang="en-US" dirty="0"/>
          </a:p>
        </p:txBody>
      </p:sp>
      <p:sp>
        <p:nvSpPr>
          <p:cNvPr id="11" name="Content Placeholder 2"/>
          <p:cNvSpPr txBox="1">
            <a:spLocks/>
          </p:cNvSpPr>
          <p:nvPr/>
        </p:nvSpPr>
        <p:spPr>
          <a:xfrm>
            <a:off x="838200" y="1600200"/>
            <a:ext cx="10515600" cy="536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Open Source (OSINT)</a:t>
            </a:r>
          </a:p>
        </p:txBody>
      </p:sp>
      <p:sp>
        <p:nvSpPr>
          <p:cNvPr id="12" name="Content Placeholder 2"/>
          <p:cNvSpPr txBox="1">
            <a:spLocks/>
          </p:cNvSpPr>
          <p:nvPr/>
        </p:nvSpPr>
        <p:spPr>
          <a:xfrm>
            <a:off x="838200" y="2660650"/>
            <a:ext cx="10515600" cy="536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dirty="0" smtClean="0"/>
              <a:t>Email Lists</a:t>
            </a:r>
          </a:p>
        </p:txBody>
      </p:sp>
      <p:sp>
        <p:nvSpPr>
          <p:cNvPr id="13" name="Content Placeholder 2"/>
          <p:cNvSpPr txBox="1">
            <a:spLocks/>
          </p:cNvSpPr>
          <p:nvPr/>
        </p:nvSpPr>
        <p:spPr>
          <a:xfrm>
            <a:off x="838200" y="3482439"/>
            <a:ext cx="10515600" cy="536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Regulatory Bulletins</a:t>
            </a:r>
          </a:p>
        </p:txBody>
      </p:sp>
      <p:sp>
        <p:nvSpPr>
          <p:cNvPr id="14" name="Content Placeholder 2"/>
          <p:cNvSpPr txBox="1">
            <a:spLocks/>
          </p:cNvSpPr>
          <p:nvPr/>
        </p:nvSpPr>
        <p:spPr>
          <a:xfrm>
            <a:off x="825759" y="3951801"/>
            <a:ext cx="10515600" cy="536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Vulnerability Subscriptions</a:t>
            </a:r>
          </a:p>
        </p:txBody>
      </p:sp>
      <p:sp>
        <p:nvSpPr>
          <p:cNvPr id="15" name="Content Placeholder 2"/>
          <p:cNvSpPr txBox="1">
            <a:spLocks/>
          </p:cNvSpPr>
          <p:nvPr/>
        </p:nvSpPr>
        <p:spPr>
          <a:xfrm>
            <a:off x="838200" y="2134137"/>
            <a:ext cx="10515600" cy="536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Private Sources (FS-ISAC)</a:t>
            </a:r>
          </a:p>
        </p:txBody>
      </p:sp>
      <p:sp>
        <p:nvSpPr>
          <p:cNvPr id="17" name="Content Placeholder 2"/>
          <p:cNvSpPr txBox="1">
            <a:spLocks/>
          </p:cNvSpPr>
          <p:nvPr/>
        </p:nvSpPr>
        <p:spPr>
          <a:xfrm>
            <a:off x="842865" y="3044288"/>
            <a:ext cx="10515600" cy="536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dirty="0" smtClean="0"/>
              <a:t>“Automated Feeds”</a:t>
            </a:r>
          </a:p>
        </p:txBody>
      </p:sp>
    </p:spTree>
    <p:extLst>
      <p:ext uri="{BB962C8B-B14F-4D97-AF65-F5344CB8AC3E}">
        <p14:creationId xmlns:p14="http://schemas.microsoft.com/office/powerpoint/2010/main" val="2738082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762000"/>
            <a:ext cx="12192000" cy="625474"/>
          </a:xfrm>
          <a:solidFill>
            <a:schemeClr val="bg1">
              <a:alpha val="50000"/>
            </a:schemeClr>
          </a:solidFill>
        </p:spPr>
        <p:txBody>
          <a:bodyPr>
            <a:normAutofit fontScale="90000"/>
          </a:bodyPr>
          <a:lstStyle/>
          <a:p>
            <a:r>
              <a:rPr lang="en-US" dirty="0" smtClean="0"/>
              <a:t>Level 2: Producers</a:t>
            </a:r>
            <a:endParaRPr lang="en-US" dirty="0"/>
          </a:p>
        </p:txBody>
      </p:sp>
      <p:sp>
        <p:nvSpPr>
          <p:cNvPr id="3" name="Content Placeholder 2"/>
          <p:cNvSpPr>
            <a:spLocks noGrp="1"/>
          </p:cNvSpPr>
          <p:nvPr>
            <p:ph idx="1"/>
          </p:nvPr>
        </p:nvSpPr>
        <p:spPr>
          <a:xfrm>
            <a:off x="838200" y="1825625"/>
            <a:ext cx="10515600" cy="536575"/>
          </a:xfrm>
        </p:spPr>
        <p:txBody>
          <a:bodyPr/>
          <a:lstStyle/>
          <a:p>
            <a:r>
              <a:rPr lang="en-US" dirty="0" smtClean="0"/>
              <a:t>WHY?</a:t>
            </a:r>
          </a:p>
        </p:txBody>
      </p:sp>
      <p:sp>
        <p:nvSpPr>
          <p:cNvPr id="6" name="Content Placeholder 2"/>
          <p:cNvSpPr txBox="1">
            <a:spLocks/>
          </p:cNvSpPr>
          <p:nvPr/>
        </p:nvSpPr>
        <p:spPr>
          <a:xfrm>
            <a:off x="1219200" y="2365310"/>
            <a:ext cx="10515600" cy="536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Joining the fight…teamwork = victory</a:t>
            </a: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62800" y="990600"/>
            <a:ext cx="3348038" cy="3151480"/>
          </a:xfrm>
          <a:prstGeom prst="rect">
            <a:avLst/>
          </a:prstGeom>
        </p:spPr>
      </p:pic>
      <p:sp>
        <p:nvSpPr>
          <p:cNvPr id="8" name="Content Placeholder 2"/>
          <p:cNvSpPr txBox="1">
            <a:spLocks/>
          </p:cNvSpPr>
          <p:nvPr/>
        </p:nvSpPr>
        <p:spPr>
          <a:xfrm>
            <a:off x="1219200" y="2800351"/>
            <a:ext cx="10515600" cy="536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Quality vs. quantity</a:t>
            </a:r>
          </a:p>
        </p:txBody>
      </p:sp>
    </p:spTree>
    <p:extLst>
      <p:ext uri="{BB962C8B-B14F-4D97-AF65-F5344CB8AC3E}">
        <p14:creationId xmlns:p14="http://schemas.microsoft.com/office/powerpoint/2010/main" val="43678420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par>
                                <p:cTn id="8" presetID="14" presetClass="entr" presetSubtype="1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randombar(horizontal)">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762000"/>
            <a:ext cx="12192000" cy="625474"/>
          </a:xfrm>
          <a:solidFill>
            <a:schemeClr val="bg1">
              <a:alpha val="50000"/>
            </a:schemeClr>
          </a:solidFill>
        </p:spPr>
        <p:txBody>
          <a:bodyPr>
            <a:normAutofit fontScale="90000"/>
          </a:bodyPr>
          <a:lstStyle/>
          <a:p>
            <a:r>
              <a:rPr lang="en-US" dirty="0" smtClean="0"/>
              <a:t>Level 2: Producers</a:t>
            </a:r>
            <a:endParaRPr lang="en-US" dirty="0"/>
          </a:p>
        </p:txBody>
      </p:sp>
      <p:sp>
        <p:nvSpPr>
          <p:cNvPr id="3" name="Content Placeholder 2"/>
          <p:cNvSpPr>
            <a:spLocks noGrp="1"/>
          </p:cNvSpPr>
          <p:nvPr>
            <p:ph idx="1"/>
          </p:nvPr>
        </p:nvSpPr>
        <p:spPr>
          <a:xfrm>
            <a:off x="838200" y="1825625"/>
            <a:ext cx="10515600" cy="536575"/>
          </a:xfrm>
        </p:spPr>
        <p:txBody>
          <a:bodyPr/>
          <a:lstStyle/>
          <a:p>
            <a:r>
              <a:rPr lang="en-US" dirty="0" smtClean="0"/>
              <a:t>WHY?</a:t>
            </a:r>
          </a:p>
        </p:txBody>
      </p:sp>
      <p:sp>
        <p:nvSpPr>
          <p:cNvPr id="6" name="Content Placeholder 2"/>
          <p:cNvSpPr txBox="1">
            <a:spLocks/>
          </p:cNvSpPr>
          <p:nvPr/>
        </p:nvSpPr>
        <p:spPr>
          <a:xfrm>
            <a:off x="1219200" y="2365310"/>
            <a:ext cx="10515600" cy="536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Joining the fight…teamwork = victory</a:t>
            </a: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62800" y="990600"/>
            <a:ext cx="3348038" cy="3151480"/>
          </a:xfrm>
          <a:prstGeom prst="rect">
            <a:avLst/>
          </a:prstGeom>
        </p:spPr>
      </p:pic>
      <p:sp>
        <p:nvSpPr>
          <p:cNvPr id="8" name="Content Placeholder 2"/>
          <p:cNvSpPr txBox="1">
            <a:spLocks/>
          </p:cNvSpPr>
          <p:nvPr/>
        </p:nvSpPr>
        <p:spPr>
          <a:xfrm>
            <a:off x="1219200" y="2800351"/>
            <a:ext cx="10515600" cy="536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Quality vs. quantity</a:t>
            </a: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4960" y="3739310"/>
            <a:ext cx="2028440" cy="2033588"/>
          </a:xfrm>
          <a:prstGeom prst="rect">
            <a:avLst/>
          </a:prstGeom>
        </p:spPr>
      </p:pic>
      <p:sp>
        <p:nvSpPr>
          <p:cNvPr id="5" name="TextBox 4"/>
          <p:cNvSpPr txBox="1"/>
          <p:nvPr/>
        </p:nvSpPr>
        <p:spPr>
          <a:xfrm>
            <a:off x="2649601" y="3955885"/>
            <a:ext cx="5867399" cy="1815882"/>
          </a:xfrm>
          <a:prstGeom prst="rect">
            <a:avLst/>
          </a:prstGeom>
          <a:solidFill>
            <a:schemeClr val="bg1">
              <a:alpha val="70000"/>
            </a:schemeClr>
          </a:solidFill>
        </p:spPr>
        <p:txBody>
          <a:bodyPr wrap="square" rtlCol="0">
            <a:spAutoFit/>
          </a:bodyPr>
          <a:lstStyle/>
          <a:p>
            <a:r>
              <a:rPr lang="en-US" sz="1400" dirty="0"/>
              <a:t>Share, share freely, and share transparently. Make no assumption on valuation, the best intelligence data I tend to receive comes from </a:t>
            </a:r>
            <a:r>
              <a:rPr lang="en-US" sz="1400" dirty="0" smtClean="0"/>
              <a:t>organizations who </a:t>
            </a:r>
            <a:r>
              <a:rPr lang="en-US" sz="1400" dirty="0"/>
              <a:t>understand their environment and the deviation from normalcy. What you may dismiss as without value is an epiphany for someone else that leads to miscreants being punched. Never be embarrassed, afraid, or ashamed to share and ask questions. It's better to be corrected by peers than torn asunder by miscreants; I am corrected often</a:t>
            </a:r>
            <a:r>
              <a:rPr lang="en-US" sz="1400" dirty="0" smtClean="0"/>
              <a:t>.</a:t>
            </a:r>
          </a:p>
          <a:p>
            <a:r>
              <a:rPr lang="en-US" sz="1400" dirty="0" smtClean="0"/>
              <a:t>Nathan Fowler, </a:t>
            </a:r>
            <a:endParaRPr lang="en-US" sz="1400" dirty="0"/>
          </a:p>
        </p:txBody>
      </p:sp>
    </p:spTree>
    <p:extLst>
      <p:ext uri="{BB962C8B-B14F-4D97-AF65-F5344CB8AC3E}">
        <p14:creationId xmlns:p14="http://schemas.microsoft.com/office/powerpoint/2010/main" val="1632910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762000"/>
            <a:ext cx="12192000" cy="625474"/>
          </a:xfrm>
          <a:solidFill>
            <a:schemeClr val="bg1">
              <a:alpha val="50000"/>
            </a:schemeClr>
          </a:solidFill>
        </p:spPr>
        <p:txBody>
          <a:bodyPr>
            <a:normAutofit fontScale="90000"/>
          </a:bodyPr>
          <a:lstStyle/>
          <a:p>
            <a:r>
              <a:rPr lang="en-US" dirty="0" smtClean="0"/>
              <a:t>Level 2: Producers</a:t>
            </a:r>
            <a:endParaRPr lang="en-US" dirty="0"/>
          </a:p>
        </p:txBody>
      </p:sp>
      <p:sp>
        <p:nvSpPr>
          <p:cNvPr id="3" name="Content Placeholder 2"/>
          <p:cNvSpPr>
            <a:spLocks noGrp="1"/>
          </p:cNvSpPr>
          <p:nvPr>
            <p:ph idx="1"/>
          </p:nvPr>
        </p:nvSpPr>
        <p:spPr>
          <a:xfrm>
            <a:off x="838200" y="1825625"/>
            <a:ext cx="10515600" cy="536575"/>
          </a:xfrm>
        </p:spPr>
        <p:txBody>
          <a:bodyPr/>
          <a:lstStyle/>
          <a:p>
            <a:r>
              <a:rPr lang="en-US" dirty="0" smtClean="0"/>
              <a:t>HOW?</a:t>
            </a:r>
          </a:p>
        </p:txBody>
      </p:sp>
      <p:sp>
        <p:nvSpPr>
          <p:cNvPr id="6" name="Content Placeholder 2"/>
          <p:cNvSpPr txBox="1">
            <a:spLocks/>
          </p:cNvSpPr>
          <p:nvPr/>
        </p:nvSpPr>
        <p:spPr>
          <a:xfrm>
            <a:off x="1219200" y="2365310"/>
            <a:ext cx="10515600" cy="536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Focus on TWO areas: EMAIL &amp; WEB</a:t>
            </a:r>
          </a:p>
        </p:txBody>
      </p:sp>
    </p:spTree>
    <p:extLst>
      <p:ext uri="{BB962C8B-B14F-4D97-AF65-F5344CB8AC3E}">
        <p14:creationId xmlns:p14="http://schemas.microsoft.com/office/powerpoint/2010/main" val="4271187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762000"/>
            <a:ext cx="12192000" cy="625474"/>
          </a:xfrm>
          <a:solidFill>
            <a:schemeClr val="bg1">
              <a:alpha val="50000"/>
            </a:schemeClr>
          </a:solidFill>
        </p:spPr>
        <p:txBody>
          <a:bodyPr>
            <a:normAutofit fontScale="90000"/>
          </a:bodyPr>
          <a:lstStyle/>
          <a:p>
            <a:r>
              <a:rPr lang="en-US" dirty="0" smtClean="0"/>
              <a:t>Level 2: Producers | Email</a:t>
            </a:r>
            <a:endParaRPr lang="en-US" dirty="0"/>
          </a:p>
        </p:txBody>
      </p:sp>
      <p:sp>
        <p:nvSpPr>
          <p:cNvPr id="3" name="Content Placeholder 2"/>
          <p:cNvSpPr>
            <a:spLocks noGrp="1"/>
          </p:cNvSpPr>
          <p:nvPr>
            <p:ph idx="1"/>
          </p:nvPr>
        </p:nvSpPr>
        <p:spPr>
          <a:xfrm>
            <a:off x="838200" y="1825625"/>
            <a:ext cx="10515600" cy="536575"/>
          </a:xfrm>
        </p:spPr>
        <p:txBody>
          <a:bodyPr/>
          <a:lstStyle/>
          <a:p>
            <a:r>
              <a:rPr lang="en-US" dirty="0" smtClean="0"/>
              <a:t>EMAIL - only requires good MTA visibility and basic tools</a:t>
            </a:r>
          </a:p>
        </p:txBody>
      </p:sp>
      <p:sp>
        <p:nvSpPr>
          <p:cNvPr id="6" name="Content Placeholder 2"/>
          <p:cNvSpPr txBox="1">
            <a:spLocks/>
          </p:cNvSpPr>
          <p:nvPr/>
        </p:nvSpPr>
        <p:spPr>
          <a:xfrm>
            <a:off x="1219200" y="2365310"/>
            <a:ext cx="10515600" cy="536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Typical items of interest in malicious emails:</a:t>
            </a:r>
          </a:p>
        </p:txBody>
      </p:sp>
      <p:sp>
        <p:nvSpPr>
          <p:cNvPr id="5" name="Content Placeholder 2"/>
          <p:cNvSpPr txBox="1">
            <a:spLocks/>
          </p:cNvSpPr>
          <p:nvPr/>
        </p:nvSpPr>
        <p:spPr>
          <a:xfrm>
            <a:off x="1701282" y="2803461"/>
            <a:ext cx="10515600" cy="536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Sender IP &amp; host (check if mailbox is </a:t>
            </a:r>
            <a:r>
              <a:rPr lang="en-US" dirty="0" err="1" smtClean="0"/>
              <a:t>pwned</a:t>
            </a:r>
            <a:r>
              <a:rPr lang="en-US" dirty="0" smtClean="0"/>
              <a:t> vs. spoofed)</a:t>
            </a:r>
          </a:p>
        </p:txBody>
      </p:sp>
      <p:sp>
        <p:nvSpPr>
          <p:cNvPr id="7" name="Content Placeholder 2"/>
          <p:cNvSpPr txBox="1">
            <a:spLocks/>
          </p:cNvSpPr>
          <p:nvPr/>
        </p:nvSpPr>
        <p:spPr>
          <a:xfrm>
            <a:off x="1701282" y="3229171"/>
            <a:ext cx="10515600" cy="536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Sender mailbox (from/reply-to)</a:t>
            </a:r>
          </a:p>
        </p:txBody>
      </p:sp>
      <p:sp>
        <p:nvSpPr>
          <p:cNvPr id="8" name="Content Placeholder 2"/>
          <p:cNvSpPr txBox="1">
            <a:spLocks/>
          </p:cNvSpPr>
          <p:nvPr/>
        </p:nvSpPr>
        <p:spPr>
          <a:xfrm>
            <a:off x="1701282" y="3667322"/>
            <a:ext cx="10515600" cy="536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Message attachments or URLs (more on this…)</a:t>
            </a:r>
          </a:p>
        </p:txBody>
      </p:sp>
      <p:sp>
        <p:nvSpPr>
          <p:cNvPr id="9" name="Content Placeholder 2"/>
          <p:cNvSpPr txBox="1">
            <a:spLocks/>
          </p:cNvSpPr>
          <p:nvPr/>
        </p:nvSpPr>
        <p:spPr>
          <a:xfrm>
            <a:off x="1671735" y="4093032"/>
            <a:ext cx="10515600" cy="116476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BEC / wire fraud is great – requires little/no technical abilities to take</a:t>
            </a:r>
            <a:r>
              <a:rPr lang="en-US" dirty="0"/>
              <a:t> </a:t>
            </a:r>
            <a:r>
              <a:rPr lang="en-US" dirty="0" smtClean="0"/>
              <a:t>down their financial infrastructure (mule accounts)</a:t>
            </a:r>
          </a:p>
        </p:txBody>
      </p:sp>
    </p:spTree>
    <p:extLst>
      <p:ext uri="{BB962C8B-B14F-4D97-AF65-F5344CB8AC3E}">
        <p14:creationId xmlns:p14="http://schemas.microsoft.com/office/powerpoint/2010/main" val="4217764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P spid="7" grpId="0"/>
      <p:bldP spid="8"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762000"/>
            <a:ext cx="12192000" cy="625474"/>
          </a:xfrm>
          <a:solidFill>
            <a:schemeClr val="bg1">
              <a:alpha val="50000"/>
            </a:schemeClr>
          </a:solidFill>
        </p:spPr>
        <p:txBody>
          <a:bodyPr>
            <a:normAutofit fontScale="90000"/>
          </a:bodyPr>
          <a:lstStyle/>
          <a:p>
            <a:r>
              <a:rPr lang="en-US" dirty="0" smtClean="0"/>
              <a:t>Level 2: Producers | Email</a:t>
            </a:r>
            <a:endParaRPr lang="en-US" dirty="0"/>
          </a:p>
        </p:txBody>
      </p:sp>
      <p:sp>
        <p:nvSpPr>
          <p:cNvPr id="3" name="Content Placeholder 2"/>
          <p:cNvSpPr>
            <a:spLocks noGrp="1"/>
          </p:cNvSpPr>
          <p:nvPr>
            <p:ph idx="1"/>
          </p:nvPr>
        </p:nvSpPr>
        <p:spPr>
          <a:xfrm>
            <a:off x="838200" y="1825625"/>
            <a:ext cx="10515600" cy="536575"/>
          </a:xfrm>
        </p:spPr>
        <p:txBody>
          <a:bodyPr/>
          <a:lstStyle/>
          <a:p>
            <a:r>
              <a:rPr lang="en-US" dirty="0" smtClean="0"/>
              <a:t>So you have a link or attachment from a malicious email?</a:t>
            </a:r>
          </a:p>
        </p:txBody>
      </p:sp>
      <p:sp>
        <p:nvSpPr>
          <p:cNvPr id="6" name="Content Placeholder 2"/>
          <p:cNvSpPr txBox="1">
            <a:spLocks/>
          </p:cNvSpPr>
          <p:nvPr/>
        </p:nvSpPr>
        <p:spPr>
          <a:xfrm>
            <a:off x="1219200" y="2365310"/>
            <a:ext cx="10515600" cy="536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Analyzing LINKS (find the “story”)</a:t>
            </a:r>
          </a:p>
        </p:txBody>
      </p:sp>
      <p:sp>
        <p:nvSpPr>
          <p:cNvPr id="5" name="Content Placeholder 2"/>
          <p:cNvSpPr txBox="1">
            <a:spLocks/>
          </p:cNvSpPr>
          <p:nvPr/>
        </p:nvSpPr>
        <p:spPr>
          <a:xfrm>
            <a:off x="1701282" y="2803461"/>
            <a:ext cx="10515600" cy="536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err="1" smtClean="0"/>
              <a:t>URLquery</a:t>
            </a:r>
            <a:r>
              <a:rPr lang="en-US" dirty="0" smtClean="0"/>
              <a:t> &amp; URLscan.io are great</a:t>
            </a:r>
          </a:p>
        </p:txBody>
      </p:sp>
      <p:sp>
        <p:nvSpPr>
          <p:cNvPr id="7" name="Content Placeholder 2"/>
          <p:cNvSpPr txBox="1">
            <a:spLocks/>
          </p:cNvSpPr>
          <p:nvPr/>
        </p:nvSpPr>
        <p:spPr>
          <a:xfrm>
            <a:off x="1701282" y="3229171"/>
            <a:ext cx="10515600" cy="536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err="1" smtClean="0"/>
              <a:t>VirusTotal</a:t>
            </a:r>
            <a:r>
              <a:rPr lang="en-US" dirty="0" smtClean="0"/>
              <a:t> is great (look for any comments)</a:t>
            </a:r>
          </a:p>
        </p:txBody>
      </p:sp>
      <p:sp>
        <p:nvSpPr>
          <p:cNvPr id="8" name="Content Placeholder 2"/>
          <p:cNvSpPr txBox="1">
            <a:spLocks/>
          </p:cNvSpPr>
          <p:nvPr/>
        </p:nvSpPr>
        <p:spPr>
          <a:xfrm>
            <a:off x="1701282" y="3667322"/>
            <a:ext cx="10515600" cy="536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Other dynamic analysis: </a:t>
            </a:r>
            <a:r>
              <a:rPr lang="en-US" dirty="0" smtClean="0"/>
              <a:t>Hybrid-Analysis, </a:t>
            </a:r>
            <a:r>
              <a:rPr lang="en-US" dirty="0" err="1" smtClean="0"/>
              <a:t>Malwr</a:t>
            </a:r>
            <a:r>
              <a:rPr lang="en-US" dirty="0" smtClean="0"/>
              <a:t>, Cuckoo, etc.</a:t>
            </a:r>
          </a:p>
        </p:txBody>
      </p:sp>
      <p:sp>
        <p:nvSpPr>
          <p:cNvPr id="9" name="Content Placeholder 2"/>
          <p:cNvSpPr txBox="1">
            <a:spLocks/>
          </p:cNvSpPr>
          <p:nvPr/>
        </p:nvSpPr>
        <p:spPr>
          <a:xfrm>
            <a:off x="2438400" y="4097697"/>
            <a:ext cx="10515600" cy="536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Run URL against punch++ / </a:t>
            </a:r>
            <a:r>
              <a:rPr lang="en-US" dirty="0" err="1" smtClean="0"/>
              <a:t>iprep</a:t>
            </a:r>
            <a:r>
              <a:rPr lang="en-US" dirty="0" smtClean="0"/>
              <a:t> / OSINT Grabber</a:t>
            </a:r>
          </a:p>
        </p:txBody>
      </p:sp>
      <p:sp>
        <p:nvSpPr>
          <p:cNvPr id="10" name="Content Placeholder 2"/>
          <p:cNvSpPr txBox="1">
            <a:spLocks/>
          </p:cNvSpPr>
          <p:nvPr/>
        </p:nvSpPr>
        <p:spPr>
          <a:xfrm>
            <a:off x="2971800" y="4537924"/>
            <a:ext cx="8763000" cy="536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Static analysis?</a:t>
            </a:r>
          </a:p>
        </p:txBody>
      </p:sp>
      <p:sp>
        <p:nvSpPr>
          <p:cNvPr id="11" name="Content Placeholder 2"/>
          <p:cNvSpPr txBox="1">
            <a:spLocks/>
          </p:cNvSpPr>
          <p:nvPr/>
        </p:nvSpPr>
        <p:spPr>
          <a:xfrm>
            <a:off x="3429000" y="4972964"/>
            <a:ext cx="8763000" cy="536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Look at redirects &amp; drop files /.</a:t>
            </a:r>
            <a:r>
              <a:rPr lang="en-US" dirty="0" err="1" smtClean="0"/>
              <a:t>js</a:t>
            </a:r>
            <a:r>
              <a:rPr lang="en-US" dirty="0" smtClean="0"/>
              <a:t> etc.</a:t>
            </a:r>
          </a:p>
        </p:txBody>
      </p:sp>
      <p:sp>
        <p:nvSpPr>
          <p:cNvPr id="12" name="Content Placeholder 2"/>
          <p:cNvSpPr txBox="1">
            <a:spLocks/>
          </p:cNvSpPr>
          <p:nvPr/>
        </p:nvSpPr>
        <p:spPr>
          <a:xfrm>
            <a:off x="4038600" y="5391933"/>
            <a:ext cx="8763000" cy="536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Take notes!  All good stuff…</a:t>
            </a:r>
          </a:p>
        </p:txBody>
      </p:sp>
    </p:spTree>
    <p:extLst>
      <p:ext uri="{BB962C8B-B14F-4D97-AF65-F5344CB8AC3E}">
        <p14:creationId xmlns:p14="http://schemas.microsoft.com/office/powerpoint/2010/main" val="2723140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P spid="11"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762000"/>
            <a:ext cx="12192000" cy="625474"/>
          </a:xfrm>
          <a:solidFill>
            <a:schemeClr val="bg1">
              <a:alpha val="50000"/>
            </a:schemeClr>
          </a:solidFill>
        </p:spPr>
        <p:txBody>
          <a:bodyPr>
            <a:normAutofit fontScale="90000"/>
          </a:bodyPr>
          <a:lstStyle/>
          <a:p>
            <a:r>
              <a:rPr lang="en-US" dirty="0" smtClean="0"/>
              <a:t>Level 2: Producers | Email</a:t>
            </a:r>
            <a:endParaRPr lang="en-US" dirty="0"/>
          </a:p>
        </p:txBody>
      </p:sp>
      <p:sp>
        <p:nvSpPr>
          <p:cNvPr id="6" name="Content Placeholder 2"/>
          <p:cNvSpPr txBox="1">
            <a:spLocks/>
          </p:cNvSpPr>
          <p:nvPr/>
        </p:nvSpPr>
        <p:spPr>
          <a:xfrm>
            <a:off x="1219200" y="2365310"/>
            <a:ext cx="10515600" cy="536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Analyzing ATTACHMENTS</a:t>
            </a:r>
          </a:p>
        </p:txBody>
      </p:sp>
      <p:sp>
        <p:nvSpPr>
          <p:cNvPr id="5" name="Content Placeholder 2"/>
          <p:cNvSpPr txBox="1">
            <a:spLocks/>
          </p:cNvSpPr>
          <p:nvPr/>
        </p:nvSpPr>
        <p:spPr>
          <a:xfrm>
            <a:off x="1701282" y="2803461"/>
            <a:ext cx="10515600" cy="536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Collect hashes (</a:t>
            </a:r>
            <a:r>
              <a:rPr lang="en-US" dirty="0" err="1" smtClean="0"/>
              <a:t>HashMyFiles</a:t>
            </a:r>
            <a:r>
              <a:rPr lang="en-US" dirty="0" smtClean="0"/>
              <a:t>)</a:t>
            </a:r>
          </a:p>
        </p:txBody>
      </p:sp>
      <p:sp>
        <p:nvSpPr>
          <p:cNvPr id="7" name="Content Placeholder 2"/>
          <p:cNvSpPr txBox="1">
            <a:spLocks/>
          </p:cNvSpPr>
          <p:nvPr/>
        </p:nvSpPr>
        <p:spPr>
          <a:xfrm>
            <a:off x="1701282" y="3229171"/>
            <a:ext cx="10515600" cy="536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Run through dynamic analysis</a:t>
            </a:r>
          </a:p>
        </p:txBody>
      </p:sp>
      <p:sp>
        <p:nvSpPr>
          <p:cNvPr id="8" name="Content Placeholder 2"/>
          <p:cNvSpPr txBox="1">
            <a:spLocks/>
          </p:cNvSpPr>
          <p:nvPr/>
        </p:nvSpPr>
        <p:spPr>
          <a:xfrm>
            <a:off x="1701282" y="3667322"/>
            <a:ext cx="10515600" cy="536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If it’s .</a:t>
            </a:r>
            <a:r>
              <a:rPr lang="en-US" dirty="0" err="1" smtClean="0"/>
              <a:t>js</a:t>
            </a:r>
            <a:r>
              <a:rPr lang="en-US" dirty="0" smtClean="0"/>
              <a:t> or .</a:t>
            </a:r>
            <a:r>
              <a:rPr lang="en-US" dirty="0" err="1" smtClean="0"/>
              <a:t>vbs</a:t>
            </a:r>
            <a:r>
              <a:rPr lang="en-US" dirty="0" smtClean="0"/>
              <a:t> dropper try to get payload / rinse &amp; repeat</a:t>
            </a:r>
          </a:p>
        </p:txBody>
      </p:sp>
      <p:sp>
        <p:nvSpPr>
          <p:cNvPr id="9" name="Content Placeholder 2"/>
          <p:cNvSpPr txBox="1">
            <a:spLocks/>
          </p:cNvSpPr>
          <p:nvPr/>
        </p:nvSpPr>
        <p:spPr>
          <a:xfrm>
            <a:off x="2743200" y="4531183"/>
            <a:ext cx="10515600" cy="536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Share with community, ask for help convicting it</a:t>
            </a:r>
          </a:p>
        </p:txBody>
      </p:sp>
      <p:sp>
        <p:nvSpPr>
          <p:cNvPr id="10" name="Content Placeholder 2"/>
          <p:cNvSpPr txBox="1">
            <a:spLocks/>
          </p:cNvSpPr>
          <p:nvPr/>
        </p:nvSpPr>
        <p:spPr>
          <a:xfrm>
            <a:off x="3391678" y="4961558"/>
            <a:ext cx="8763000" cy="536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At a minimum share hash &amp; file name</a:t>
            </a:r>
          </a:p>
        </p:txBody>
      </p:sp>
      <p:sp>
        <p:nvSpPr>
          <p:cNvPr id="13" name="Content Placeholder 2"/>
          <p:cNvSpPr txBox="1">
            <a:spLocks/>
          </p:cNvSpPr>
          <p:nvPr/>
        </p:nvSpPr>
        <p:spPr>
          <a:xfrm>
            <a:off x="1981200" y="4100808"/>
            <a:ext cx="10058400" cy="536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Getting those domains on droppers is CRITICAL!</a:t>
            </a:r>
          </a:p>
        </p:txBody>
      </p:sp>
      <p:sp>
        <p:nvSpPr>
          <p:cNvPr id="14" name="Content Placeholder 2"/>
          <p:cNvSpPr>
            <a:spLocks noGrp="1"/>
          </p:cNvSpPr>
          <p:nvPr>
            <p:ph idx="1"/>
          </p:nvPr>
        </p:nvSpPr>
        <p:spPr/>
        <p:txBody>
          <a:bodyPr/>
          <a:lstStyle/>
          <a:p>
            <a:r>
              <a:rPr lang="en-US" dirty="0" smtClean="0"/>
              <a:t>So you have a link or attachment from a malicious email?</a:t>
            </a:r>
          </a:p>
        </p:txBody>
      </p:sp>
    </p:spTree>
    <p:extLst>
      <p:ext uri="{BB962C8B-B14F-4D97-AF65-F5344CB8AC3E}">
        <p14:creationId xmlns:p14="http://schemas.microsoft.com/office/powerpoint/2010/main" val="3555187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762000"/>
            <a:ext cx="12192000" cy="625474"/>
          </a:xfrm>
          <a:solidFill>
            <a:schemeClr val="bg1">
              <a:alpha val="50000"/>
            </a:schemeClr>
          </a:solidFill>
        </p:spPr>
        <p:txBody>
          <a:bodyPr>
            <a:normAutofit fontScale="90000"/>
          </a:bodyPr>
          <a:lstStyle/>
          <a:p>
            <a:r>
              <a:rPr lang="en-US" dirty="0" smtClean="0"/>
              <a:t>Level 2: Producers | Web</a:t>
            </a:r>
            <a:endParaRPr lang="en-US" dirty="0"/>
          </a:p>
        </p:txBody>
      </p:sp>
      <p:sp>
        <p:nvSpPr>
          <p:cNvPr id="3" name="Content Placeholder 2"/>
          <p:cNvSpPr>
            <a:spLocks noGrp="1"/>
          </p:cNvSpPr>
          <p:nvPr>
            <p:ph idx="1"/>
          </p:nvPr>
        </p:nvSpPr>
        <p:spPr>
          <a:xfrm>
            <a:off x="838200" y="1825625"/>
            <a:ext cx="10515600" cy="536575"/>
          </a:xfrm>
        </p:spPr>
        <p:txBody>
          <a:bodyPr/>
          <a:lstStyle/>
          <a:p>
            <a:r>
              <a:rPr lang="en-US" dirty="0" smtClean="0"/>
              <a:t>Web – only requires good logging</a:t>
            </a:r>
          </a:p>
        </p:txBody>
      </p:sp>
      <p:sp>
        <p:nvSpPr>
          <p:cNvPr id="11" name="Content Placeholder 2"/>
          <p:cNvSpPr txBox="1">
            <a:spLocks/>
          </p:cNvSpPr>
          <p:nvPr/>
        </p:nvSpPr>
        <p:spPr>
          <a:xfrm>
            <a:off x="838200" y="2362200"/>
            <a:ext cx="10515600" cy="536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Share what is alerted….types of things might include</a:t>
            </a:r>
          </a:p>
        </p:txBody>
      </p:sp>
      <p:sp>
        <p:nvSpPr>
          <p:cNvPr id="12" name="Content Placeholder 2"/>
          <p:cNvSpPr txBox="1">
            <a:spLocks/>
          </p:cNvSpPr>
          <p:nvPr/>
        </p:nvSpPr>
        <p:spPr>
          <a:xfrm>
            <a:off x="1447800" y="2832099"/>
            <a:ext cx="10515600" cy="536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Sinkhole traffic</a:t>
            </a:r>
          </a:p>
        </p:txBody>
      </p:sp>
      <p:sp>
        <p:nvSpPr>
          <p:cNvPr id="14" name="Content Placeholder 2"/>
          <p:cNvSpPr txBox="1">
            <a:spLocks/>
          </p:cNvSpPr>
          <p:nvPr/>
        </p:nvSpPr>
        <p:spPr>
          <a:xfrm>
            <a:off x="3429000" y="5004705"/>
            <a:ext cx="10515600" cy="536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Large movement in traffic</a:t>
            </a:r>
          </a:p>
        </p:txBody>
      </p:sp>
      <p:sp>
        <p:nvSpPr>
          <p:cNvPr id="15" name="Content Placeholder 2"/>
          <p:cNvSpPr txBox="1">
            <a:spLocks/>
          </p:cNvSpPr>
          <p:nvPr/>
        </p:nvSpPr>
        <p:spPr>
          <a:xfrm>
            <a:off x="2514600" y="4140101"/>
            <a:ext cx="9523444" cy="10020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Suspicious outbound traffic (non standard ports, etc.) – note that even blocked traffic should be reviewed</a:t>
            </a:r>
          </a:p>
        </p:txBody>
      </p:sp>
      <p:sp>
        <p:nvSpPr>
          <p:cNvPr id="16" name="Content Placeholder 2"/>
          <p:cNvSpPr txBox="1">
            <a:spLocks/>
          </p:cNvSpPr>
          <p:nvPr/>
        </p:nvSpPr>
        <p:spPr>
          <a:xfrm>
            <a:off x="1447800" y="3270896"/>
            <a:ext cx="10515600" cy="536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Potential “botnet” / C2 traffic</a:t>
            </a:r>
          </a:p>
        </p:txBody>
      </p:sp>
      <p:sp>
        <p:nvSpPr>
          <p:cNvPr id="17" name="Content Placeholder 2"/>
          <p:cNvSpPr txBox="1">
            <a:spLocks/>
          </p:cNvSpPr>
          <p:nvPr/>
        </p:nvSpPr>
        <p:spPr>
          <a:xfrm>
            <a:off x="1485122" y="3724599"/>
            <a:ext cx="10515600" cy="536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Endpoint accessed malicious domain or IP</a:t>
            </a:r>
          </a:p>
        </p:txBody>
      </p:sp>
      <p:sp>
        <p:nvSpPr>
          <p:cNvPr id="18" name="Content Placeholder 2"/>
          <p:cNvSpPr txBox="1">
            <a:spLocks/>
          </p:cNvSpPr>
          <p:nvPr/>
        </p:nvSpPr>
        <p:spPr>
          <a:xfrm>
            <a:off x="4038600" y="5368305"/>
            <a:ext cx="6019800" cy="536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EXE / MIME over the wire</a:t>
            </a:r>
          </a:p>
        </p:txBody>
      </p:sp>
    </p:spTree>
    <p:extLst>
      <p:ext uri="{BB962C8B-B14F-4D97-AF65-F5344CB8AC3E}">
        <p14:creationId xmlns:p14="http://schemas.microsoft.com/office/powerpoint/2010/main" val="565203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4" grpId="0"/>
      <p:bldP spid="15" grpId="0"/>
      <p:bldP spid="16" grpId="0"/>
      <p:bldP spid="17" grpId="0"/>
      <p:bldP spid="18"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762000"/>
            <a:ext cx="12192000" cy="625474"/>
          </a:xfrm>
          <a:solidFill>
            <a:schemeClr val="bg1">
              <a:alpha val="50000"/>
            </a:schemeClr>
          </a:solidFill>
        </p:spPr>
        <p:txBody>
          <a:bodyPr>
            <a:normAutofit fontScale="90000"/>
          </a:bodyPr>
          <a:lstStyle/>
          <a:p>
            <a:r>
              <a:rPr lang="en-US" dirty="0" smtClean="0"/>
              <a:t>Level 2: Producers</a:t>
            </a:r>
            <a:endParaRPr lang="en-US" dirty="0"/>
          </a:p>
        </p:txBody>
      </p:sp>
      <p:sp>
        <p:nvSpPr>
          <p:cNvPr id="3" name="Content Placeholder 2"/>
          <p:cNvSpPr>
            <a:spLocks noGrp="1"/>
          </p:cNvSpPr>
          <p:nvPr>
            <p:ph idx="1"/>
          </p:nvPr>
        </p:nvSpPr>
        <p:spPr>
          <a:xfrm>
            <a:off x="838200" y="1825625"/>
            <a:ext cx="11201400" cy="3660775"/>
          </a:xfrm>
        </p:spPr>
        <p:txBody>
          <a:bodyPr>
            <a:normAutofit/>
          </a:bodyPr>
          <a:lstStyle/>
          <a:p>
            <a:r>
              <a:rPr lang="en-US" dirty="0" smtClean="0"/>
              <a:t>ONE IMPORTANT TOOL…</a:t>
            </a:r>
          </a:p>
          <a:p>
            <a:pPr lvl="1"/>
            <a:r>
              <a:rPr lang="en-US" dirty="0" smtClean="0"/>
              <a:t>Security Onion + ET Pro Signature Subscription (run Bro</a:t>
            </a:r>
            <a:r>
              <a:rPr lang="en-US" dirty="0" smtClean="0"/>
              <a:t>!) + DECRYPT IF POSSIBLE</a:t>
            </a:r>
            <a:endParaRPr lang="en-US" dirty="0" smtClean="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2743200"/>
            <a:ext cx="5042757" cy="2866002"/>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22304" y="2715126"/>
            <a:ext cx="4800600" cy="3480435"/>
          </a:xfrm>
          <a:prstGeom prst="rect">
            <a:avLst/>
          </a:prstGeom>
        </p:spPr>
      </p:pic>
    </p:spTree>
    <p:extLst>
      <p:ext uri="{BB962C8B-B14F-4D97-AF65-F5344CB8AC3E}">
        <p14:creationId xmlns:p14="http://schemas.microsoft.com/office/powerpoint/2010/main" val="3475625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762000"/>
            <a:ext cx="12192000" cy="625474"/>
          </a:xfrm>
          <a:solidFill>
            <a:schemeClr val="bg1">
              <a:alpha val="50000"/>
            </a:schemeClr>
          </a:solidFill>
        </p:spPr>
        <p:txBody>
          <a:bodyPr>
            <a:normAutofit fontScale="90000"/>
          </a:bodyPr>
          <a:lstStyle/>
          <a:p>
            <a:r>
              <a:rPr lang="en-US" dirty="0" smtClean="0"/>
              <a:t>Level 2: </a:t>
            </a:r>
            <a:r>
              <a:rPr lang="en-US" dirty="0" smtClean="0"/>
              <a:t>Producers</a:t>
            </a:r>
            <a:endParaRPr lang="en-US" dirty="0"/>
          </a:p>
        </p:txBody>
      </p:sp>
      <p:sp>
        <p:nvSpPr>
          <p:cNvPr id="3" name="Content Placeholder 2"/>
          <p:cNvSpPr>
            <a:spLocks noGrp="1"/>
          </p:cNvSpPr>
          <p:nvPr>
            <p:ph idx="1"/>
          </p:nvPr>
        </p:nvSpPr>
        <p:spPr>
          <a:xfrm>
            <a:off x="838200" y="1825625"/>
            <a:ext cx="10515600" cy="536575"/>
          </a:xfrm>
        </p:spPr>
        <p:txBody>
          <a:bodyPr/>
          <a:lstStyle/>
          <a:p>
            <a:r>
              <a:rPr lang="en-US" dirty="0" smtClean="0"/>
              <a:t>SOME EXAMPLES (story time)</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3000" y="2342147"/>
            <a:ext cx="7422343" cy="3128963"/>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 y="2878722"/>
            <a:ext cx="10058400" cy="2094763"/>
          </a:xfrm>
          <a:prstGeom prst="rect">
            <a:avLst/>
          </a:prstGeom>
          <a:ln w="127000" cap="sq">
            <a:solidFill>
              <a:srgbClr val="000000"/>
            </a:solidFill>
            <a:miter lim="800000"/>
          </a:ln>
          <a:effectLst>
            <a:outerShdw blurRad="57150" dist="50800" dir="2700000" algn="tl" rotWithShape="0">
              <a:srgbClr val="000000">
                <a:alpha val="40000"/>
              </a:srgbClr>
            </a:outerShdw>
          </a:effectLst>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00800" y="3429000"/>
            <a:ext cx="1693300" cy="2395538"/>
          </a:xfrm>
          <a:prstGeom prst="ellipse">
            <a:avLst/>
          </a:prstGeom>
          <a:ln>
            <a:noFill/>
          </a:ln>
          <a:effectLst>
            <a:softEdge rad="112500"/>
          </a:effectLst>
        </p:spPr>
      </p:pic>
    </p:spTree>
    <p:extLst>
      <p:ext uri="{BB962C8B-B14F-4D97-AF65-F5344CB8AC3E}">
        <p14:creationId xmlns:p14="http://schemas.microsoft.com/office/powerpoint/2010/main" val="3908354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arn(inVertical)">
                                      <p:cBhvr>
                                        <p:cTn id="11" dur="500"/>
                                        <p:tgtEl>
                                          <p:spTgt spid="5"/>
                                        </p:tgtEl>
                                      </p:cBhvr>
                                    </p:animEffect>
                                  </p:childTnLst>
                                </p:cTn>
                              </p:par>
                              <p:par>
                                <p:cTn id="12" presetID="16" presetClass="entr" presetSubtype="21" fill="hold"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barn(inVertical)">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762000"/>
            <a:ext cx="12192000" cy="625474"/>
          </a:xfrm>
          <a:solidFill>
            <a:schemeClr val="bg1">
              <a:alpha val="50000"/>
            </a:schemeClr>
          </a:solidFill>
        </p:spPr>
        <p:txBody>
          <a:bodyPr>
            <a:normAutofit fontScale="90000"/>
          </a:bodyPr>
          <a:lstStyle/>
          <a:p>
            <a:r>
              <a:rPr lang="en-US" dirty="0" smtClean="0"/>
              <a:t>Level 2: </a:t>
            </a:r>
            <a:r>
              <a:rPr lang="en-US" dirty="0" smtClean="0"/>
              <a:t>Producers</a:t>
            </a:r>
            <a:endParaRPr lang="en-US" dirty="0"/>
          </a:p>
        </p:txBody>
      </p:sp>
      <p:sp>
        <p:nvSpPr>
          <p:cNvPr id="3" name="Content Placeholder 2"/>
          <p:cNvSpPr>
            <a:spLocks noGrp="1"/>
          </p:cNvSpPr>
          <p:nvPr>
            <p:ph idx="1"/>
          </p:nvPr>
        </p:nvSpPr>
        <p:spPr>
          <a:xfrm>
            <a:off x="838200" y="1825625"/>
            <a:ext cx="10515600" cy="536575"/>
          </a:xfrm>
        </p:spPr>
        <p:txBody>
          <a:bodyPr/>
          <a:lstStyle/>
          <a:p>
            <a:r>
              <a:rPr lang="en-US" dirty="0" smtClean="0"/>
              <a:t>SOME EXAMPLES (story time)</a:t>
            </a: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600" y="2293570"/>
            <a:ext cx="5638800" cy="3400425"/>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43600" y="1600200"/>
            <a:ext cx="5338763" cy="4165701"/>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678650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randombar(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762000"/>
            <a:ext cx="12192000" cy="625474"/>
          </a:xfrm>
          <a:solidFill>
            <a:schemeClr val="bg1">
              <a:alpha val="50000"/>
            </a:schemeClr>
          </a:solidFill>
        </p:spPr>
        <p:txBody>
          <a:bodyPr>
            <a:normAutofit fontScale="90000"/>
          </a:bodyPr>
          <a:lstStyle/>
          <a:p>
            <a:r>
              <a:rPr lang="en-US" dirty="0" smtClean="0"/>
              <a:t>Level 2: Producers</a:t>
            </a:r>
            <a:endParaRPr lang="en-US" dirty="0"/>
          </a:p>
        </p:txBody>
      </p:sp>
      <p:sp>
        <p:nvSpPr>
          <p:cNvPr id="3" name="Content Placeholder 2"/>
          <p:cNvSpPr>
            <a:spLocks noGrp="1"/>
          </p:cNvSpPr>
          <p:nvPr>
            <p:ph idx="1"/>
          </p:nvPr>
        </p:nvSpPr>
        <p:spPr>
          <a:xfrm>
            <a:off x="838200" y="1825625"/>
            <a:ext cx="10515600" cy="536575"/>
          </a:xfrm>
        </p:spPr>
        <p:txBody>
          <a:bodyPr/>
          <a:lstStyle/>
          <a:p>
            <a:r>
              <a:rPr lang="en-US" dirty="0" smtClean="0"/>
              <a:t>Questions…?</a:t>
            </a:r>
          </a:p>
        </p:txBody>
      </p:sp>
      <p:sp>
        <p:nvSpPr>
          <p:cNvPr id="4" name="TextBox 3"/>
          <p:cNvSpPr txBox="1"/>
          <p:nvPr/>
        </p:nvSpPr>
        <p:spPr>
          <a:xfrm>
            <a:off x="0" y="2667000"/>
            <a:ext cx="12192000" cy="1200329"/>
          </a:xfrm>
          <a:prstGeom prst="rect">
            <a:avLst/>
          </a:prstGeom>
          <a:solidFill>
            <a:schemeClr val="tx1">
              <a:alpha val="94000"/>
            </a:schemeClr>
          </a:solidFill>
        </p:spPr>
        <p:txBody>
          <a:bodyPr wrap="square" rtlCol="0">
            <a:spAutoFit/>
          </a:bodyPr>
          <a:lstStyle/>
          <a:p>
            <a:r>
              <a:rPr lang="en-US" dirty="0" smtClean="0">
                <a:solidFill>
                  <a:schemeClr val="bg1"/>
                </a:solidFill>
                <a:hlinkClick r:id="rId3"/>
              </a:rPr>
              <a:t>John.Lockie@doubleline.com</a:t>
            </a:r>
            <a:endParaRPr lang="en-US" dirty="0">
              <a:solidFill>
                <a:schemeClr val="bg1"/>
              </a:solidFill>
            </a:endParaRPr>
          </a:p>
          <a:p>
            <a:r>
              <a:rPr lang="en-US" dirty="0" smtClean="0">
                <a:solidFill>
                  <a:schemeClr val="bg1"/>
                </a:solidFill>
              </a:rPr>
              <a:t>@</a:t>
            </a:r>
            <a:r>
              <a:rPr lang="en-US" dirty="0" err="1" smtClean="0">
                <a:solidFill>
                  <a:schemeClr val="bg1"/>
                </a:solidFill>
              </a:rPr>
              <a:t>thedefensedude</a:t>
            </a:r>
            <a:endParaRPr lang="en-US" dirty="0" smtClean="0">
              <a:solidFill>
                <a:schemeClr val="bg1"/>
              </a:solidFill>
            </a:endParaRPr>
          </a:p>
          <a:p>
            <a:r>
              <a:rPr lang="en-US" dirty="0" err="1" smtClean="0">
                <a:solidFill>
                  <a:schemeClr val="bg1"/>
                </a:solidFill>
              </a:rPr>
              <a:t>CyberIntel</a:t>
            </a:r>
            <a:r>
              <a:rPr lang="en-US" dirty="0" smtClean="0">
                <a:solidFill>
                  <a:schemeClr val="bg1"/>
                </a:solidFill>
              </a:rPr>
              <a:t> Confidential List Request Access @ </a:t>
            </a:r>
            <a:r>
              <a:rPr lang="en-US" dirty="0" smtClean="0">
                <a:solidFill>
                  <a:schemeClr val="bg1"/>
                </a:solidFill>
                <a:hlinkClick r:id="rId4"/>
              </a:rPr>
              <a:t>admin@fsisac.com</a:t>
            </a:r>
            <a:r>
              <a:rPr lang="en-US" dirty="0" smtClean="0">
                <a:solidFill>
                  <a:schemeClr val="bg1"/>
                </a:solidFill>
              </a:rPr>
              <a:t> </a:t>
            </a:r>
          </a:p>
        </p:txBody>
      </p:sp>
    </p:spTree>
    <p:extLst>
      <p:ext uri="{BB962C8B-B14F-4D97-AF65-F5344CB8AC3E}">
        <p14:creationId xmlns:p14="http://schemas.microsoft.com/office/powerpoint/2010/main" val="2302655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ppt/theme/theme3.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ocPublishedLinkedAssetsLookup xmlns="4873beb7-5857-4685-be1f-d57550cc96cc" xsi:nil="true"/>
    <ApprovalStatus xmlns="4873beb7-5857-4685-be1f-d57550cc96cc">InProgress</ApprovalStatus>
    <MarketSpecific xmlns="4873beb7-5857-4685-be1f-d57550cc96cc">false</MarketSpecific>
    <LocComments xmlns="4873beb7-5857-4685-be1f-d57550cc96cc" xsi:nil="true"/>
    <LocLastLocAttemptVersionTypeLookup xmlns="4873beb7-5857-4685-be1f-d57550cc96cc" xsi:nil="true"/>
    <DirectSourceMarket xmlns="4873beb7-5857-4685-be1f-d57550cc96cc" xsi:nil="true"/>
    <ThumbnailAssetId xmlns="4873beb7-5857-4685-be1f-d57550cc96cc" xsi:nil="true"/>
    <PrimaryImageGen xmlns="4873beb7-5857-4685-be1f-d57550cc96cc">false</PrimaryImageGen>
    <LocNewPublishedVersionLookup xmlns="4873beb7-5857-4685-be1f-d57550cc96cc" xsi:nil="true"/>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LocOverallPublishStatusLookup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LocOverallLocStatusLookup xmlns="4873beb7-5857-4685-be1f-d57550cc96cc" xsi:nil="tru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1345093</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This simple template design works for technology and  businesses, but it's versatile enough to use in other contexts.  It features multiple slide layouts designed for widescreen (16x9 resolution) and includes a sample SmartArt list and chart that are easily editable.</APDescription>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2011-11-26T00:30:00+00:00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TemplateStatus xmlns="4873beb7-5857-4685-be1f-d57550cc96cc">Complete</TemplateStatus>
    <Downloads xmlns="4873beb7-5857-4685-be1f-d57550cc96cc">0</Downloads>
    <OOCacheId xmlns="4873beb7-5857-4685-be1f-d57550cc96cc" xsi:nil="true"/>
    <IsDeleted xmlns="4873beb7-5857-4685-be1f-d57550cc96cc">false</IsDeleted>
    <LocPublishedDependentAssetsLookup xmlns="4873beb7-5857-4685-be1f-d57550cc96cc" xsi:nil="true"/>
    <TPExecutable xmlns="4873beb7-5857-4685-be1f-d57550cc96cc" xsi:nil="true"/>
    <EditorialTags xmlns="4873beb7-5857-4685-be1f-d57550cc96cc" xsi:nil="true"/>
    <SubmitterId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TP102787989</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694266</LocLastLocAttemptVersionLookup>
    <LocProcessedForHandoffsLookup xmlns="4873beb7-5857-4685-be1f-d57550cc96cc" xsi:nil="true"/>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LocOverallPreviewStatusLookup xmlns="4873beb7-5857-4685-be1f-d57550cc96cc" xsi:nil="true"/>
    <TaxCatchAll xmlns="4873beb7-5857-4685-be1f-d57550cc96cc"/>
    <Markets xmlns="4873beb7-5857-4685-be1f-d57550cc96cc"/>
    <UAProjectedTotalWords xmlns="4873beb7-5857-4685-be1f-d57550cc96cc" xsi:nil="true"/>
    <IntlLangReview xmlns="4873beb7-5857-4685-be1f-d57550cc96cc" xsi:nil="true"/>
    <OutputCachingOn xmlns="4873beb7-5857-4685-be1f-d57550cc96cc">false</OutputCachingOn>
    <AverageRating xmlns="4873beb7-5857-4685-be1f-d57550cc96cc" xsi:nil="true"/>
    <APAuthor xmlns="4873beb7-5857-4685-be1f-d57550cc96cc">
      <UserInfo>
        <DisplayName>REDMOND\kristaa</DisplayName>
        <AccountId>136</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LocProcessedForMarketsLookup xmlns="4873beb7-5857-4685-be1f-d57550cc96cc" xsi:nil="true"/>
    <TPLaunchHelpLinkType xmlns="4873beb7-5857-4685-be1f-d57550cc96cc">Template</TPLaunchHelpLinkType>
    <OriginalRelease xmlns="4873beb7-5857-4685-be1f-d57550cc96cc">15</OriginalRelease>
    <LocalizationTagsTaxHTField0 xmlns="4873beb7-5857-4685-be1f-d57550cc96cc">
      <Terms xmlns="http://schemas.microsoft.com/office/infopath/2007/PartnerControls"/>
    </LocalizationTagsTaxHTField0>
    <UACurrentWords xmlns="4873beb7-5857-4685-be1f-d57550cc96cc" xsi:nil="true"/>
    <ArtSampleDocs xmlns="4873beb7-5857-4685-be1f-d57550cc96cc" xsi:nil="true"/>
    <UALocRecommendation xmlns="4873beb7-5857-4685-be1f-d57550cc96cc">Localize</UALocRecommendation>
    <Manager xmlns="4873beb7-5857-4685-be1f-d57550cc96cc" xsi:nil="true"/>
    <LocOverallHandbackStatusLookup xmlns="4873beb7-5857-4685-be1f-d57550cc96cc" xsi:nil="true"/>
    <ShowIn xmlns="4873beb7-5857-4685-be1f-d57550cc96cc">Show everywhere</ShowIn>
    <UANotes xmlns="4873beb7-5857-4685-be1f-d57550cc96cc" xsi:nil="true"/>
    <InternalTagsTaxHTField0 xmlns="4873beb7-5857-4685-be1f-d57550cc96cc">
      <Terms xmlns="http://schemas.microsoft.com/office/infopath/2007/PartnerControls"/>
    </InternalTagsTaxHTField0>
    <CSXHash xmlns="4873beb7-5857-4685-be1f-d57550cc96cc" xsi:nil="true"/>
    <VoteCount xmlns="4873beb7-5857-4685-be1f-d57550cc96cc" xsi:nil="true"/>
    <AssetExpire xmlns="4873beb7-5857-4685-be1f-d57550cc96cc">2029-05-12T07:00:00+00:00</AssetExpire>
    <DSATActionTaken xmlns="4873beb7-5857-4685-be1f-d57550cc96cc" xsi:nil="true"/>
    <CSXSubmissionMarket xmlns="4873beb7-5857-4685-be1f-d57550cc96cc" xsi:nil="true"/>
    <LocMarketGroupTiers2 xmlns="4873beb7-5857-4685-be1f-d57550cc96c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36F65B-1B07-41EE-A0E8-BC6EF3855225}">
  <ds:schemaRefs>
    <ds:schemaRef ds:uri="http://schemas.microsoft.com/sharepoint/v3/contenttype/forms"/>
  </ds:schemaRefs>
</ds:datastoreItem>
</file>

<file path=customXml/itemProps2.xml><?xml version="1.0" encoding="utf-8"?>
<ds:datastoreItem xmlns:ds="http://schemas.openxmlformats.org/officeDocument/2006/customXml" ds:itemID="{60C67BEE-D13F-4BD2-98A5-34D8A0977F68}">
  <ds:schemaRefs>
    <ds:schemaRef ds:uri="http://schemas.microsoft.com/office/infopath/2007/PartnerControls"/>
    <ds:schemaRef ds:uri="http://www.w3.org/XML/1998/namespace"/>
    <ds:schemaRef ds:uri="http://purl.org/dc/dcmitype/"/>
    <ds:schemaRef ds:uri="http://purl.org/dc/elements/1.1/"/>
    <ds:schemaRef ds:uri="http://purl.org/dc/terms/"/>
    <ds:schemaRef ds:uri="http://schemas.microsoft.com/office/2006/documentManagement/types"/>
    <ds:schemaRef ds:uri="http://schemas.openxmlformats.org/package/2006/metadata/core-properties"/>
    <ds:schemaRef ds:uri="4873beb7-5857-4685-be1f-d57550cc96cc"/>
    <ds:schemaRef ds:uri="http://schemas.microsoft.com/office/2006/metadata/properties"/>
  </ds:schemaRefs>
</ds:datastoreItem>
</file>

<file path=customXml/itemProps3.xml><?xml version="1.0" encoding="utf-8"?>
<ds:datastoreItem xmlns:ds="http://schemas.openxmlformats.org/officeDocument/2006/customXml" ds:itemID="{A09BF4D4-EF60-4196-BFC3-9462D60797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4648</TotalTime>
  <Words>532</Words>
  <Application>Microsoft Office PowerPoint</Application>
  <PresentationFormat>Widescreen</PresentationFormat>
  <Paragraphs>73</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Taking Your Institution to the Next Level</vt:lpstr>
      <vt:lpstr>About Me</vt:lpstr>
      <vt:lpstr>Level 1: Consumers</vt:lpstr>
      <vt:lpstr>Level 2: Producers</vt:lpstr>
      <vt:lpstr>Level 2: Producers</vt:lpstr>
      <vt:lpstr>Level 2: Producers</vt:lpstr>
      <vt:lpstr>Level 2: Producers | Email</vt:lpstr>
      <vt:lpstr>Level 2: Producers | Email</vt:lpstr>
      <vt:lpstr>Level 2: Producers | Email</vt:lpstr>
      <vt:lpstr>Level 2: Producers | Web</vt:lpstr>
      <vt:lpstr>Level 2: Producers</vt:lpstr>
      <vt:lpstr>Level 2: Producers</vt:lpstr>
      <vt:lpstr>Level 2: Producers</vt:lpstr>
      <vt:lpstr>Level 2: Producers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Taking Your Institution to the Next Level</dc:title>
  <dc:creator>John Lockie</dc:creator>
  <cp:lastModifiedBy>John Lockie</cp:lastModifiedBy>
  <cp:revision>31</cp:revision>
  <dcterms:created xsi:type="dcterms:W3CDTF">2017-04-05T21:48:04Z</dcterms:created>
  <dcterms:modified xsi:type="dcterms:W3CDTF">2017-04-13T17:01:26Z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